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5" d="100"/>
          <a:sy n="85" d="100"/>
        </p:scale>
        <p:origin x="595"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onishaKar27/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61812" y="3537449"/>
            <a:ext cx="7143910" cy="861497"/>
          </a:xfrm>
        </p:spPr>
        <p:txBody>
          <a:bodyPr vert="horz" lIns="91440" tIns="45720" rIns="91440" bIns="45720" rtlCol="0" anchor="t">
            <a:normAutofit/>
          </a:bodyPr>
          <a:lstStyle/>
          <a:p>
            <a:pPr algn="just"/>
            <a:r>
              <a:rPr lang="en-US" b="0" dirty="0">
                <a:solidFill>
                  <a:schemeClr val="tx1"/>
                </a:solidFill>
              </a:rPr>
              <a:t>[Student Name: Monisha Kar </a:t>
            </a:r>
            <a:endParaRPr lang="en-IN" b="0" dirty="0">
              <a:solidFill>
                <a:schemeClr val="tx1"/>
              </a:solidFill>
            </a:endParaRPr>
          </a:p>
          <a:p>
            <a:pPr algn="just"/>
            <a:r>
              <a:rPr lang="en-US" b="0" dirty="0">
                <a:solidFill>
                  <a:schemeClr val="tx1"/>
                </a:solidFill>
              </a:rPr>
              <a:t>College Name: Institute Of Engineering &amp; Management]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79752" y="2685552"/>
            <a:ext cx="9559330" cy="743448"/>
          </a:xfrm>
        </p:spPr>
        <p:txBody>
          <a:bodyPr>
            <a:normAutofit fontScale="90000"/>
          </a:bodyPr>
          <a:lstStyle/>
          <a:p>
            <a:r>
              <a:rPr lang="en-GB" sz="3200" dirty="0"/>
              <a:t>Project Title - </a:t>
            </a:r>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61812" y="4700111"/>
            <a:ext cx="6170681" cy="369332"/>
          </a:xfrm>
          <a:prstGeom prst="rect">
            <a:avLst/>
          </a:prstGeom>
          <a:noFill/>
        </p:spPr>
        <p:txBody>
          <a:bodyPr wrap="square" rtlCol="0">
            <a:spAutoFit/>
          </a:bodyPr>
          <a:lstStyle/>
          <a:p>
            <a:r>
              <a:rPr lang="en-US" b="1" dirty="0"/>
              <a:t>AICTE STU ID : STU6a5f9575e72671784649077</a:t>
            </a:r>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792464"/>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Rectangle 1">
            <a:extLst>
              <a:ext uri="{FF2B5EF4-FFF2-40B4-BE49-F238E27FC236}">
                <a16:creationId xmlns:a16="http://schemas.microsoft.com/office/drawing/2014/main" id="{5E0A1AFF-B51A-547B-94C1-46A40E8F04B5}"/>
              </a:ext>
            </a:extLst>
          </p:cNvPr>
          <p:cNvSpPr>
            <a:spLocks noGrp="1" noChangeArrowheads="1"/>
          </p:cNvSpPr>
          <p:nvPr>
            <p:ph type="body" sz="quarter" idx="12"/>
          </p:nvPr>
        </p:nvSpPr>
        <p:spPr bwMode="auto">
          <a:xfrm>
            <a:off x="675957" y="2380642"/>
            <a:ext cx="7851516"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i="0" u="none" strike="noStrike" cap="none" normalizeH="0" baseline="0" dirty="0">
                <a:ln>
                  <a:noFill/>
                </a:ln>
                <a:solidFill>
                  <a:schemeClr val="tx1"/>
                </a:solidFill>
                <a:effectLst/>
                <a:latin typeface="Arial" panose="020B0604020202020204" pitchFamily="34" charset="0"/>
              </a:rPr>
              <a:t>Seasonal variations in environmental conditions, farming practices, resource availability, and market conditions can significantly influence agricultural performance.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i="0" u="none" strike="noStrike" cap="none" normalizeH="0" baseline="0" dirty="0">
                <a:ln>
                  <a:noFill/>
                </a:ln>
                <a:solidFill>
                  <a:schemeClr val="tx1"/>
                </a:solidFill>
                <a:effectLst/>
                <a:latin typeface="Arial" panose="020B0604020202020204" pitchFamily="34" charset="0"/>
              </a:rPr>
              <a:t>As a result, agricultural performance may differ across different seasons, affecting factors such as production, resource usage, and economic outcomes.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i="0" u="none" strike="noStrike" cap="none" normalizeH="0" baseline="0" dirty="0">
                <a:ln>
                  <a:noFill/>
                </a:ln>
                <a:solidFill>
                  <a:schemeClr val="tx1"/>
                </a:solidFill>
                <a:effectLst/>
                <a:latin typeface="Arial" panose="020B0604020202020204" pitchFamily="34" charset="0"/>
              </a:rPr>
              <a:t>However, raw agricultural data does not clearly reveal these seasonal differences, patterns, trends, relationships, and variations.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i="0" u="none" strike="noStrike" cap="none" normalizeH="0" baseline="0" dirty="0">
                <a:ln>
                  <a:noFill/>
                </a:ln>
                <a:solidFill>
                  <a:schemeClr val="tx1"/>
                </a:solidFill>
                <a:effectLst/>
                <a:latin typeface="Arial" panose="020B0604020202020204" pitchFamily="34" charset="0"/>
              </a:rPr>
              <a:t>Therefore, the problem is to analyze the agricultural dataset and investigate how agricultural performance varies across seasons by identifying meaningful patterns, trends, relationships, and differences in the available data. </a:t>
            </a:r>
          </a:p>
        </p:txBody>
      </p:sp>
    </p:spTree>
    <p:extLst>
      <p:ext uri="{BB962C8B-B14F-4D97-AF65-F5344CB8AC3E}">
        <p14:creationId xmlns:p14="http://schemas.microsoft.com/office/powerpoint/2010/main" val="3098548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644230"/>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Rectangle 1">
            <a:extLst>
              <a:ext uri="{FF2B5EF4-FFF2-40B4-BE49-F238E27FC236}">
                <a16:creationId xmlns:a16="http://schemas.microsoft.com/office/drawing/2014/main" id="{3DBC8C85-B898-ABFF-768F-A36DD030C4D1}"/>
              </a:ext>
            </a:extLst>
          </p:cNvPr>
          <p:cNvSpPr>
            <a:spLocks noChangeArrowheads="1"/>
          </p:cNvSpPr>
          <p:nvPr/>
        </p:nvSpPr>
        <p:spPr bwMode="auto">
          <a:xfrm>
            <a:off x="675957" y="1975906"/>
            <a:ext cx="915832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defTabSz="914400" eaLnBrk="0" fontAlgn="base" hangingPunct="0">
              <a:spcBef>
                <a:spcPct val="0"/>
              </a:spcBef>
              <a:spcAft>
                <a:spcPct val="0"/>
              </a:spcAft>
              <a:buFont typeface="Wingdings" panose="05000000000000000000" pitchFamily="2" charset="2"/>
              <a:buChar char="q"/>
            </a:pPr>
            <a:r>
              <a:rPr lang="en-US" altLang="en-US" sz="1600" dirty="0">
                <a:latin typeface="Arial" panose="020B0604020202020204" pitchFamily="34" charset="0"/>
              </a:rPr>
              <a:t>The dataset contains information related to environmental conditions, farming practices, resource usage, crop production, and economic performance. </a:t>
            </a:r>
          </a:p>
          <a:p>
            <a:pPr marR="0" lvl="0" algn="just"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i="0" u="none" strike="noStrike" cap="none" normalizeH="0" baseline="0" dirty="0">
                <a:ln>
                  <a:noFill/>
                </a:ln>
                <a:solidFill>
                  <a:schemeClr val="tx1"/>
                </a:solidFill>
                <a:effectLst/>
                <a:latin typeface="Arial" panose="020B0604020202020204" pitchFamily="34" charset="0"/>
              </a:rPr>
              <a:t>The project uses Data Analytics techniques and visualizations to identify seasonal patterns, trends, relationships, and differences in agricultural activities.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i="0" u="none" strike="noStrike" cap="none" normalizeH="0" baseline="0" dirty="0">
                <a:ln>
                  <a:noFill/>
                </a:ln>
                <a:solidFill>
                  <a:schemeClr val="tx1"/>
                </a:solidFill>
                <a:effectLst/>
                <a:latin typeface="Arial" panose="020B0604020202020204" pitchFamily="34" charset="0"/>
              </a:rPr>
              <a:t>The analysis compares important factors such as crop yield, production, environmental conditions, water usage, resource efficiency, revenue, and profit across seasons.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i="0" u="none" strike="noStrike" cap="none" normalizeH="0" baseline="0" dirty="0">
                <a:ln>
                  <a:noFill/>
                </a:ln>
                <a:solidFill>
                  <a:schemeClr val="tx1"/>
                </a:solidFill>
                <a:effectLst/>
                <a:latin typeface="Arial" panose="020B0604020202020204" pitchFamily="34" charset="0"/>
              </a:rPr>
              <a:t>The main aim is to generate meaningful insights and data-driven recommendations that can support better seasonal agricultural planning and efficient resource utilization.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i="0" u="none" strike="noStrike" cap="none" normalizeH="0" baseline="0" dirty="0">
                <a:ln>
                  <a:noFill/>
                </a:ln>
                <a:solidFill>
                  <a:schemeClr val="tx1"/>
                </a:solidFill>
                <a:effectLst/>
                <a:latin typeface="Arial" panose="020B0604020202020204" pitchFamily="34" charset="0"/>
              </a:rPr>
              <a:t>This project focuses on analyzing agricultural performance across different seasons, including Kharif, Rabi, and Zaid. </a:t>
            </a: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AC7FC6D6-E540-1522-FC89-EE2AD0EBEABD}"/>
              </a:ext>
            </a:extLst>
          </p:cNvPr>
          <p:cNvSpPr>
            <a:spLocks noGrp="1" noChangeArrowheads="1"/>
          </p:cNvSpPr>
          <p:nvPr>
            <p:ph type="body" sz="quarter" idx="12"/>
          </p:nvPr>
        </p:nvSpPr>
        <p:spPr bwMode="auto">
          <a:xfrm>
            <a:off x="620007" y="2073062"/>
            <a:ext cx="9124627"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Farmers</a:t>
            </a:r>
            <a:r>
              <a:rPr kumimoji="0" lang="en-US" altLang="en-US" sz="1600" b="0" i="0" u="none" strike="noStrike" cap="none" normalizeH="0" baseline="0" dirty="0">
                <a:ln>
                  <a:noFill/>
                </a:ln>
                <a:solidFill>
                  <a:schemeClr val="tx1"/>
                </a:solidFill>
                <a:effectLst/>
                <a:latin typeface="Arial" panose="020B0604020202020204" pitchFamily="34" charset="0"/>
              </a:rPr>
              <a:t> – To understand seasonal patterns and make better decisions regarding crop selection, resource usage, and farming practices.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Agricultural Planners and Policymakers</a:t>
            </a:r>
            <a:r>
              <a:rPr kumimoji="0" lang="en-US" altLang="en-US" sz="1600" b="0" i="0" u="none" strike="noStrike" cap="none" normalizeH="0" baseline="0" dirty="0">
                <a:ln>
                  <a:noFill/>
                </a:ln>
                <a:solidFill>
                  <a:schemeClr val="tx1"/>
                </a:solidFill>
                <a:effectLst/>
                <a:latin typeface="Arial" panose="020B0604020202020204" pitchFamily="34" charset="0"/>
              </a:rPr>
              <a:t> – To analyze seasonal agricultural performance and support better agricultural planning and resource allocation.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Agricultural Researchers and Analysts</a:t>
            </a:r>
            <a:r>
              <a:rPr kumimoji="0" lang="en-US" altLang="en-US" sz="1600" b="0" i="0" u="none" strike="noStrike" cap="none" normalizeH="0" baseline="0" dirty="0">
                <a:ln>
                  <a:noFill/>
                </a:ln>
                <a:solidFill>
                  <a:schemeClr val="tx1"/>
                </a:solidFill>
                <a:effectLst/>
                <a:latin typeface="Arial" panose="020B0604020202020204" pitchFamily="34" charset="0"/>
              </a:rPr>
              <a:t> – To study relationships between environmental conditions, resource usage, crop production, and economic performance.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Agricultural Organizations and Institutions</a:t>
            </a:r>
            <a:r>
              <a:rPr kumimoji="0" lang="en-US" altLang="en-US" sz="1600" b="0" i="0" u="none" strike="noStrike" cap="none" normalizeH="0" baseline="0" dirty="0">
                <a:ln>
                  <a:noFill/>
                </a:ln>
                <a:solidFill>
                  <a:schemeClr val="tx1"/>
                </a:solidFill>
                <a:effectLst/>
                <a:latin typeface="Arial" panose="020B0604020202020204" pitchFamily="34" charset="0"/>
              </a:rPr>
              <a:t> – To identify seasonal trends and areas that may require improvement or further investigation.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Students and Data Analysts</a:t>
            </a:r>
            <a:r>
              <a:rPr kumimoji="0" lang="en-US" altLang="en-US" sz="1600" b="0" i="0" u="none" strike="noStrike" cap="none" normalizeH="0" baseline="0" dirty="0">
                <a:ln>
                  <a:noFill/>
                </a:ln>
                <a:solidFill>
                  <a:schemeClr val="tx1"/>
                </a:solidFill>
                <a:effectLst/>
                <a:latin typeface="Arial" panose="020B0604020202020204" pitchFamily="34" charset="0"/>
              </a:rPr>
              <a:t> – To use the analysis and findings for understanding how data analytics can be applied to real-world agricultural problems. </a:t>
            </a:r>
          </a:p>
        </p:txBody>
      </p:sp>
    </p:spTree>
    <p:extLst>
      <p:ext uri="{BB962C8B-B14F-4D97-AF65-F5344CB8AC3E}">
        <p14:creationId xmlns:p14="http://schemas.microsoft.com/office/powerpoint/2010/main" val="4807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269999" y="421602"/>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D556F805-CABB-9F96-46F1-F2523BF131EB}"/>
              </a:ext>
            </a:extLst>
          </p:cNvPr>
          <p:cNvSpPr>
            <a:spLocks noGrp="1" noChangeArrowheads="1"/>
          </p:cNvSpPr>
          <p:nvPr>
            <p:ph type="body" sz="quarter" idx="12"/>
          </p:nvPr>
        </p:nvSpPr>
        <p:spPr bwMode="auto">
          <a:xfrm>
            <a:off x="1269999" y="1597859"/>
            <a:ext cx="851142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Google </a:t>
            </a:r>
            <a:r>
              <a:rPr kumimoji="0" lang="en-US" altLang="en-US" sz="1600" b="1" i="0" u="none" strike="noStrike" cap="none" normalizeH="0" baseline="0" dirty="0" err="1">
                <a:ln>
                  <a:noFill/>
                </a:ln>
                <a:solidFill>
                  <a:schemeClr val="tx1"/>
                </a:solidFill>
                <a:effectLst/>
                <a:latin typeface="Arial" panose="020B0604020202020204" pitchFamily="34" charset="0"/>
              </a:rPr>
              <a:t>Colab</a:t>
            </a:r>
            <a:r>
              <a:rPr kumimoji="0" lang="en-US" altLang="en-US" sz="1600" b="0" i="0" u="none" strike="noStrike" cap="none" normalizeH="0" baseline="0" dirty="0">
                <a:ln>
                  <a:noFill/>
                </a:ln>
                <a:solidFill>
                  <a:schemeClr val="tx1"/>
                </a:solidFill>
                <a:effectLst/>
                <a:latin typeface="Arial" panose="020B0604020202020204" pitchFamily="34" charset="0"/>
              </a:rPr>
              <a:t> – Used as the development environment to perform the complete data analysis.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Python</a:t>
            </a:r>
            <a:r>
              <a:rPr kumimoji="0" lang="en-US" altLang="en-US" sz="1600" b="0" i="0" u="none" strike="noStrike" cap="none" normalizeH="0" baseline="0" dirty="0">
                <a:ln>
                  <a:noFill/>
                </a:ln>
                <a:solidFill>
                  <a:schemeClr val="tx1"/>
                </a:solidFill>
                <a:effectLst/>
                <a:latin typeface="Arial" panose="020B0604020202020204" pitchFamily="34" charset="0"/>
              </a:rPr>
              <a:t> – Used as the primary programming language for data processing, analysis, and visualization.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Pandas</a:t>
            </a:r>
            <a:r>
              <a:rPr kumimoji="0" lang="en-US" altLang="en-US" sz="1600" b="0" i="0" u="none" strike="noStrike" cap="none" normalizeH="0" baseline="0" dirty="0">
                <a:ln>
                  <a:noFill/>
                </a:ln>
                <a:solidFill>
                  <a:schemeClr val="tx1"/>
                </a:solidFill>
                <a:effectLst/>
                <a:latin typeface="Arial" panose="020B0604020202020204" pitchFamily="34" charset="0"/>
              </a:rPr>
              <a:t> – Used for data loading, cleaning, preprocessing, manipulation, and analysis.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NumPy</a:t>
            </a:r>
            <a:r>
              <a:rPr kumimoji="0" lang="en-US" altLang="en-US" sz="1600" b="0" i="0" u="none" strike="noStrike" cap="none" normalizeH="0" baseline="0" dirty="0">
                <a:ln>
                  <a:noFill/>
                </a:ln>
                <a:solidFill>
                  <a:schemeClr val="tx1"/>
                </a:solidFill>
                <a:effectLst/>
                <a:latin typeface="Arial" panose="020B0604020202020204" pitchFamily="34" charset="0"/>
              </a:rPr>
              <a:t> – Used for numerical operations and data handling.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Arial" panose="020B0604020202020204" pitchFamily="34" charset="0"/>
              </a:rPr>
              <a:t>Matplotlib and Seaborn</a:t>
            </a:r>
            <a:r>
              <a:rPr kumimoji="0" lang="en-US" altLang="en-US" sz="1600" b="0" i="0" u="none" strike="noStrike" cap="none" normalizeH="0" baseline="0" dirty="0">
                <a:ln>
                  <a:noFill/>
                </a:ln>
                <a:solidFill>
                  <a:schemeClr val="tx1"/>
                </a:solidFill>
                <a:effectLst/>
                <a:latin typeface="Arial" panose="020B0604020202020204" pitchFamily="34" charset="0"/>
              </a:rPr>
              <a:t> – Used to create data visualizations such as bar charts, heatmaps, correlation plots, and other analytical graphs. </a:t>
            </a:r>
          </a:p>
        </p:txBody>
      </p:sp>
    </p:spTree>
    <p:extLst>
      <p:ext uri="{BB962C8B-B14F-4D97-AF65-F5344CB8AC3E}">
        <p14:creationId xmlns:p14="http://schemas.microsoft.com/office/powerpoint/2010/main" val="134190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85481" y="325765"/>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5122" name="Picture 2">
            <a:extLst>
              <a:ext uri="{FF2B5EF4-FFF2-40B4-BE49-F238E27FC236}">
                <a16:creationId xmlns:a16="http://schemas.microsoft.com/office/drawing/2014/main" id="{4DD72773-D73D-747F-8EA9-6CF072F12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481" y="1295683"/>
            <a:ext cx="6983507" cy="558262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8A97A01C-97E7-5A54-4A85-291CE4098F0D}"/>
              </a:ext>
            </a:extLst>
          </p:cNvPr>
          <p:cNvSpPr/>
          <p:nvPr/>
        </p:nvSpPr>
        <p:spPr>
          <a:xfrm>
            <a:off x="7368988" y="1613647"/>
            <a:ext cx="4285130" cy="3827929"/>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Result Explanation:</a:t>
            </a:r>
          </a:p>
          <a:p>
            <a:pPr algn="just"/>
            <a:br>
              <a:rPr lang="en-US" sz="1600" dirty="0">
                <a:solidFill>
                  <a:schemeClr val="tx1"/>
                </a:solidFill>
              </a:rPr>
            </a:br>
            <a:r>
              <a:rPr lang="en-US" sz="1600" dirty="0">
                <a:solidFill>
                  <a:schemeClr val="tx1"/>
                </a:solidFill>
              </a:rPr>
              <a:t>The graph shows that Kharif has the highest average agricultural production (46.31 tones) among the three seasons. Rabi follows with an average production of 41.49 tones, while Zaid has the lowest production at 38.89 tones. Overall, the results indicate that agricultural production varies across seasons, with Kharif showing the strongest production performance in the dataset.</a:t>
            </a:r>
            <a:endParaRPr lang="en-IN" sz="1600" dirty="0">
              <a:solidFill>
                <a:schemeClr val="tx1"/>
              </a:solidFill>
            </a:endParaRP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407016"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146" name="Picture 2">
            <a:extLst>
              <a:ext uri="{FF2B5EF4-FFF2-40B4-BE49-F238E27FC236}">
                <a16:creationId xmlns:a16="http://schemas.microsoft.com/office/drawing/2014/main" id="{1967CC8B-3E46-1EC9-8B16-8E9A23F6F4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048" y="1256348"/>
            <a:ext cx="7692075" cy="540861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FE3D23CB-2DF3-62E2-B7B1-F58EB3FD072E}"/>
              </a:ext>
            </a:extLst>
          </p:cNvPr>
          <p:cNvSpPr/>
          <p:nvPr/>
        </p:nvSpPr>
        <p:spPr>
          <a:xfrm>
            <a:off x="8013057" y="1518762"/>
            <a:ext cx="3857961" cy="3662837"/>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lumMod val="95000"/>
                    <a:lumOff val="5000"/>
                  </a:schemeClr>
                </a:solidFill>
              </a:rPr>
              <a:t>Result Explanation:</a:t>
            </a:r>
          </a:p>
          <a:p>
            <a:endParaRPr lang="en-US" sz="1600" b="1" dirty="0">
              <a:solidFill>
                <a:schemeClr val="tx1">
                  <a:lumMod val="95000"/>
                  <a:lumOff val="5000"/>
                </a:schemeClr>
              </a:solidFill>
            </a:endParaRPr>
          </a:p>
          <a:p>
            <a:pPr algn="just"/>
            <a:r>
              <a:rPr lang="en-US" sz="1600" dirty="0">
                <a:solidFill>
                  <a:schemeClr val="tx1"/>
                </a:solidFill>
              </a:rPr>
              <a:t>The graph shows that agricultural profit varies significantly across different states and seasons. Kharif generally shows positive profitability across most states, while Zaid shows negative profit in several states, indicating that seasonal and regional conditions influence economic agricultural performance.</a:t>
            </a:r>
          </a:p>
          <a:p>
            <a:endParaRPr lang="en-IN" sz="1600" dirty="0"/>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424946"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7170" name="Picture 2">
            <a:extLst>
              <a:ext uri="{FF2B5EF4-FFF2-40B4-BE49-F238E27FC236}">
                <a16:creationId xmlns:a16="http://schemas.microsoft.com/office/drawing/2014/main" id="{87B4CF71-A2BB-2AFA-B2BC-E9A3D5495F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058" y="1202560"/>
            <a:ext cx="8321271" cy="54624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03CB2BCC-67B7-60A8-6A7F-A64A2EEB58C5}"/>
              </a:ext>
            </a:extLst>
          </p:cNvPr>
          <p:cNvSpPr/>
          <p:nvPr/>
        </p:nvSpPr>
        <p:spPr>
          <a:xfrm>
            <a:off x="8642254" y="1454964"/>
            <a:ext cx="3460100" cy="4022471"/>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Result Explanation:</a:t>
            </a:r>
          </a:p>
          <a:p>
            <a:endParaRPr lang="en-US" sz="1600" b="1" dirty="0">
              <a:solidFill>
                <a:schemeClr val="tx1"/>
              </a:solidFill>
            </a:endParaRPr>
          </a:p>
          <a:p>
            <a:pPr algn="just"/>
            <a:r>
              <a:rPr lang="en-US" sz="1600" dirty="0">
                <a:solidFill>
                  <a:schemeClr val="tx1"/>
                </a:solidFill>
              </a:rPr>
              <a:t>The graph shows that profitability varies significantly among different crops and seasons. Sugarcane and Chilli show the highest average profits, especially during Kharif, while crops such as Wheat, Maize, Rice, and Pulses show negative profits in some seasons. This indicates that both crop selection and seasonal conditions influence agricultural profitability.</a:t>
            </a:r>
          </a:p>
          <a:p>
            <a:endParaRPr lang="en-US" sz="1600" b="1" dirty="0">
              <a:solidFill>
                <a:schemeClr val="tx1"/>
              </a:solidFill>
            </a:endParaRP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8194" name="Picture 2">
            <a:extLst>
              <a:ext uri="{FF2B5EF4-FFF2-40B4-BE49-F238E27FC236}">
                <a16:creationId xmlns:a16="http://schemas.microsoft.com/office/drawing/2014/main" id="{F286A577-7175-4F61-450E-EB8E855F74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262" y="1275371"/>
            <a:ext cx="6926595" cy="558262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B2C0D1E4-F8B6-7B64-940C-07594843E79D}"/>
              </a:ext>
            </a:extLst>
          </p:cNvPr>
          <p:cNvSpPr/>
          <p:nvPr/>
        </p:nvSpPr>
        <p:spPr>
          <a:xfrm>
            <a:off x="7908777" y="1678782"/>
            <a:ext cx="3857961" cy="3662837"/>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Result Explanation:</a:t>
            </a:r>
          </a:p>
          <a:p>
            <a:endParaRPr lang="en-US" sz="1600" b="1" dirty="0">
              <a:solidFill>
                <a:schemeClr val="tx1"/>
              </a:solidFill>
            </a:endParaRPr>
          </a:p>
          <a:p>
            <a:pPr algn="just"/>
            <a:r>
              <a:rPr lang="en-US" sz="1600" dirty="0">
                <a:solidFill>
                  <a:schemeClr val="tx1"/>
                </a:solidFill>
              </a:rPr>
              <a:t>The heatmap shows the strength of relationships between important agricultural variables. Yield and production have a strong positive correlation (0.88), while revenue and profit also show a strong positive correlation (0.89). This indicates that higher production and revenue are generally associated with better overall agricultural performance.</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389087" y="3774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Rectangle: Rounded Corners 10">
            <a:extLst>
              <a:ext uri="{FF2B5EF4-FFF2-40B4-BE49-F238E27FC236}">
                <a16:creationId xmlns:a16="http://schemas.microsoft.com/office/drawing/2014/main" id="{18ED95C7-341C-C82B-09BB-4B7984F5EC90}"/>
              </a:ext>
            </a:extLst>
          </p:cNvPr>
          <p:cNvSpPr/>
          <p:nvPr/>
        </p:nvSpPr>
        <p:spPr>
          <a:xfrm>
            <a:off x="7908777" y="1883779"/>
            <a:ext cx="4130823" cy="3090441"/>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Result Explanation:</a:t>
            </a:r>
          </a:p>
          <a:p>
            <a:endParaRPr lang="en-US" sz="1600" b="1" dirty="0">
              <a:solidFill>
                <a:schemeClr val="tx1"/>
              </a:solidFill>
            </a:endParaRPr>
          </a:p>
          <a:p>
            <a:pPr algn="just"/>
            <a:r>
              <a:rPr lang="en-US" sz="1600" dirty="0">
                <a:solidFill>
                  <a:schemeClr val="tx1"/>
                </a:solidFill>
              </a:rPr>
              <a:t>The graph shows that Kharif has the highest average crop yield at 5.63 tones per hectare, followed by Rabi at 5.04 tones per hectare. Zaid has the lowest average yield at 4.64 tones per hectare, indicating that crop yield varies across seasons and Kharif shows the strongest yield performance in the dataset.</a:t>
            </a:r>
          </a:p>
        </p:txBody>
      </p:sp>
      <p:pic>
        <p:nvPicPr>
          <p:cNvPr id="9218" name="Picture 2">
            <a:extLst>
              <a:ext uri="{FF2B5EF4-FFF2-40B4-BE49-F238E27FC236}">
                <a16:creationId xmlns:a16="http://schemas.microsoft.com/office/drawing/2014/main" id="{8BD06652-4CF2-81E7-28FA-4BF4B0711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982" y="1409141"/>
            <a:ext cx="7524750" cy="5350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04239"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a:extLst>
              <a:ext uri="{FF2B5EF4-FFF2-40B4-BE49-F238E27FC236}">
                <a16:creationId xmlns:a16="http://schemas.microsoft.com/office/drawing/2014/main" id="{8CF0CC6B-75CB-40DE-1DFA-532EB97A330B}"/>
              </a:ext>
            </a:extLst>
          </p:cNvPr>
          <p:cNvSpPr>
            <a:spLocks noChangeArrowheads="1"/>
          </p:cNvSpPr>
          <p:nvPr/>
        </p:nvSpPr>
        <p:spPr bwMode="auto">
          <a:xfrm>
            <a:off x="604239" y="1409098"/>
            <a:ext cx="841425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Real-Time Data Integration</a:t>
            </a:r>
            <a:r>
              <a:rPr kumimoji="0" lang="en-US" altLang="en-US" sz="1800" b="0" i="0" u="none" strike="noStrike" cap="none" normalizeH="0" baseline="0" dirty="0">
                <a:ln>
                  <a:noFill/>
                </a:ln>
                <a:solidFill>
                  <a:schemeClr val="tx1"/>
                </a:solidFill>
                <a:effectLst/>
                <a:latin typeface="Arial" panose="020B0604020202020204" pitchFamily="34" charset="0"/>
              </a:rPr>
              <a:t> – Future work can include real-time agricultural, weather, and market data to provide more up-to-date seasonal analysis. </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Advanced Predictive Analysis</a:t>
            </a:r>
            <a:r>
              <a:rPr kumimoji="0" lang="en-US" altLang="en-US" sz="1800" b="0" i="0" u="none" strike="noStrike" cap="none" normalizeH="0" baseline="0" dirty="0">
                <a:ln>
                  <a:noFill/>
                </a:ln>
                <a:solidFill>
                  <a:schemeClr val="tx1"/>
                </a:solidFill>
                <a:effectLst/>
                <a:latin typeface="Arial" panose="020B0604020202020204" pitchFamily="34" charset="0"/>
              </a:rPr>
              <a:t> – Machine Learning techniques can be incorporated to predict crop yield, production, and profitability for future seasons. </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More Detailed Regional Analysis</a:t>
            </a:r>
            <a:r>
              <a:rPr kumimoji="0" lang="en-US" altLang="en-US" sz="1800" b="0" i="0" u="none" strike="noStrike" cap="none" normalizeH="0" baseline="0" dirty="0">
                <a:ln>
                  <a:noFill/>
                </a:ln>
                <a:solidFill>
                  <a:schemeClr val="tx1"/>
                </a:solidFill>
                <a:effectLst/>
                <a:latin typeface="Arial" panose="020B0604020202020204" pitchFamily="34" charset="0"/>
              </a:rPr>
              <a:t> – The project can be expanded by including more regions, districts, and geographical factors for deeper location-based insights. </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Weather and Climate Data Integration</a:t>
            </a:r>
            <a:r>
              <a:rPr kumimoji="0" lang="en-US" altLang="en-US" sz="1800" b="0" i="0" u="none" strike="noStrike" cap="none" normalizeH="0" baseline="0" dirty="0">
                <a:ln>
                  <a:noFill/>
                </a:ln>
                <a:solidFill>
                  <a:schemeClr val="tx1"/>
                </a:solidFill>
                <a:effectLst/>
                <a:latin typeface="Arial" panose="020B0604020202020204" pitchFamily="34" charset="0"/>
              </a:rPr>
              <a:t> – Additional climate variables such as rainfall forecasts, temperature changes, and extreme weather conditions can improve seasonal analysis. </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Decision Support System</a:t>
            </a:r>
            <a:r>
              <a:rPr kumimoji="0" lang="en-US" altLang="en-US" sz="1800" b="0" i="0" u="none" strike="noStrike" cap="none" normalizeH="0" baseline="0" dirty="0">
                <a:ln>
                  <a:noFill/>
                </a:ln>
                <a:solidFill>
                  <a:schemeClr val="tx1"/>
                </a:solidFill>
                <a:effectLst/>
                <a:latin typeface="Arial" panose="020B0604020202020204" pitchFamily="34" charset="0"/>
              </a:rPr>
              <a:t> – The analysis can be developed into a decision-support platform to help farmers and agricultural planners make better decisions regarding crop selection, resource usage, and seasonal planning. </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Rectangle: Rounded Corners 5">
            <a:extLst>
              <a:ext uri="{FF2B5EF4-FFF2-40B4-BE49-F238E27FC236}">
                <a16:creationId xmlns:a16="http://schemas.microsoft.com/office/drawing/2014/main" id="{9FE65ABB-70F0-9B96-8750-C54F426B763B}"/>
              </a:ext>
            </a:extLst>
          </p:cNvPr>
          <p:cNvSpPr/>
          <p:nvPr/>
        </p:nvSpPr>
        <p:spPr>
          <a:xfrm>
            <a:off x="792498" y="1545657"/>
            <a:ext cx="8154269" cy="110655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hlinkClick r:id="rId3"/>
              </a:rPr>
              <a:t>https://github.com/MonishaKar27/Seasonal-Agriculture-Performance-Analysis.git</a:t>
            </a:r>
            <a:endParaRPr lang="en-IN" dirty="0">
              <a:solidFill>
                <a:schemeClr val="tx1"/>
              </a:solidFill>
            </a:endParaRPr>
          </a:p>
        </p:txBody>
      </p:sp>
    </p:spTree>
    <p:extLst>
      <p:ext uri="{BB962C8B-B14F-4D97-AF65-F5344CB8AC3E}">
        <p14:creationId xmlns:p14="http://schemas.microsoft.com/office/powerpoint/2010/main" val="38636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71C58B8-6D58-5EC7-C20D-6E5FC5AF7349}"/>
              </a:ext>
            </a:extLst>
          </p:cNvPr>
          <p:cNvPicPr>
            <a:picLocks noChangeAspect="1"/>
          </p:cNvPicPr>
          <p:nvPr/>
        </p:nvPicPr>
        <p:blipFill>
          <a:blip r:embed="rId3"/>
          <a:stretch>
            <a:fillRect/>
          </a:stretch>
        </p:blipFill>
        <p:spPr>
          <a:xfrm>
            <a:off x="747481" y="1475682"/>
            <a:ext cx="7196425" cy="5092758"/>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020282" y="3262459"/>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678</TotalTime>
  <Words>897</Words>
  <Application>Microsoft Office PowerPoint</Application>
  <PresentationFormat>Widescreen</PresentationFormat>
  <Paragraphs>77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MONISHA KAR</cp:lastModifiedBy>
  <cp:revision>100</cp:revision>
  <dcterms:created xsi:type="dcterms:W3CDTF">2021-07-11T13:13:15Z</dcterms:created>
  <dcterms:modified xsi:type="dcterms:W3CDTF">2026-09-09T18:53:52Z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